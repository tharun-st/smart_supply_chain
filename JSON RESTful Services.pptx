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Now Display Condensed Bold" charset="1" panose="020B0804030202020204"/>
      <p:regular r:id="rId16"/>
    </p:embeddedFont>
    <p:embeddedFont>
      <p:font typeface="Anantason Condensed" charset="1" panose="00000000000000000000"/>
      <p:regular r:id="rId17"/>
    </p:embeddedFont>
    <p:embeddedFont>
      <p:font typeface="Anantason Condensed Bold" charset="1" panose="00000000000000000000"/>
      <p:regular r:id="rId18"/>
    </p:embeddedFont>
    <p:embeddedFont>
      <p:font typeface="Helvetica Now Display Condensed" charset="1" panose="020B0504030202020204"/>
      <p:regular r:id="rId19"/>
    </p:embeddedFont>
    <p:embeddedFont>
      <p:font typeface="Anantason Condensed Medium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pn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15" Target="../media/image65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12" Target="../media/image76.png" Type="http://schemas.openxmlformats.org/officeDocument/2006/relationships/image"/><Relationship Id="rId13" Target="../media/image77.png" Type="http://schemas.openxmlformats.org/officeDocument/2006/relationships/image"/><Relationship Id="rId14" Target="../media/image78.png" Type="http://schemas.openxmlformats.org/officeDocument/2006/relationships/image"/><Relationship Id="rId15" Target="../media/image79.png" Type="http://schemas.openxmlformats.org/officeDocument/2006/relationships/image"/><Relationship Id="rId16" Target="../media/image80.png" Type="http://schemas.openxmlformats.org/officeDocument/2006/relationships/image"/><Relationship Id="rId17" Target="../media/image81.png" Type="http://schemas.openxmlformats.org/officeDocument/2006/relationships/image"/><Relationship Id="rId18" Target="../media/image82.png" Type="http://schemas.openxmlformats.org/officeDocument/2006/relationships/image"/><Relationship Id="rId19" Target="../media/image83.png" Type="http://schemas.openxmlformats.org/officeDocument/2006/relationships/image"/><Relationship Id="rId2" Target="../media/image66.png" Type="http://schemas.openxmlformats.org/officeDocument/2006/relationships/image"/><Relationship Id="rId20" Target="../media/image84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2" Target="../media/image85.png" Type="http://schemas.openxmlformats.org/officeDocument/2006/relationships/image"/><Relationship Id="rId3" Target="../media/image86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6.png" Type="http://schemas.openxmlformats.org/officeDocument/2006/relationships/image"/><Relationship Id="rId3" Target="../media/image97.png" Type="http://schemas.openxmlformats.org/officeDocument/2006/relationships/image"/><Relationship Id="rId4" Target="../media/image98.png" Type="http://schemas.openxmlformats.org/officeDocument/2006/relationships/image"/><Relationship Id="rId5" Target="../media/image9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5986" y="1144751"/>
            <a:ext cx="10089722" cy="268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0"/>
              </a:lnSpc>
            </a:pPr>
            <a:r>
              <a:rPr lang="en-US" sz="10714" spc="-319" b="true">
                <a:solidFill>
                  <a:srgbClr val="061F4D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JSON-Based RESTful Services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4066699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8336" y="4741361"/>
            <a:ext cx="6533604" cy="95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31">
                <a:solidFill>
                  <a:srgbClr val="3B3B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Concepts, Working, HTTP Methods, and Applications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716000" y="2142670"/>
            <a:ext cx="4572000" cy="6646648"/>
          </a:xfrm>
          <a:custGeom>
            <a:avLst/>
            <a:gdLst/>
            <a:ahLst/>
            <a:cxnLst/>
            <a:rect r="r" b="b" t="t" l="l"/>
            <a:pathLst>
              <a:path h="6646648" w="4572000">
                <a:moveTo>
                  <a:pt x="0" y="0"/>
                </a:moveTo>
                <a:lnTo>
                  <a:pt x="4572000" y="0"/>
                </a:lnTo>
                <a:lnTo>
                  <a:pt x="4572000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26842" y="5783021"/>
            <a:ext cx="6103292" cy="3432644"/>
          </a:xfrm>
          <a:custGeom>
            <a:avLst/>
            <a:gdLst/>
            <a:ahLst/>
            <a:cxnLst/>
            <a:rect r="r" b="b" t="t" l="l"/>
            <a:pathLst>
              <a:path h="3432644" w="6103292">
                <a:moveTo>
                  <a:pt x="0" y="0"/>
                </a:moveTo>
                <a:lnTo>
                  <a:pt x="6103292" y="0"/>
                </a:lnTo>
                <a:lnTo>
                  <a:pt x="610329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4919394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356686" y="5234380"/>
            <a:ext cx="921939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26">
                <a:solidFill>
                  <a:srgbClr val="0E489B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528440" y="4285339"/>
            <a:ext cx="1542230" cy="863627"/>
          </a:xfrm>
          <a:custGeom>
            <a:avLst/>
            <a:gdLst/>
            <a:ahLst/>
            <a:cxnLst/>
            <a:rect r="r" b="b" t="t" l="l"/>
            <a:pathLst>
              <a:path h="863627" w="1542230">
                <a:moveTo>
                  <a:pt x="0" y="0"/>
                </a:moveTo>
                <a:lnTo>
                  <a:pt x="1542230" y="0"/>
                </a:lnTo>
                <a:lnTo>
                  <a:pt x="154223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794034" y="4586764"/>
            <a:ext cx="872488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26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497244" y="4919394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26991" y="5234380"/>
            <a:ext cx="928876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26">
                <a:solidFill>
                  <a:srgbClr val="0E489B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HTTP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50220" y="4493047"/>
            <a:ext cx="5665780" cy="2372241"/>
          </a:xfrm>
          <a:custGeom>
            <a:avLst/>
            <a:gdLst/>
            <a:ahLst/>
            <a:cxnLst/>
            <a:rect r="r" b="b" t="t" l="l"/>
            <a:pathLst>
              <a:path h="2372241" w="5665780">
                <a:moveTo>
                  <a:pt x="0" y="0"/>
                </a:moveTo>
                <a:lnTo>
                  <a:pt x="5665780" y="0"/>
                </a:lnTo>
                <a:lnTo>
                  <a:pt x="566578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675292" cy="10287000"/>
          </a:xfrm>
          <a:custGeom>
            <a:avLst/>
            <a:gdLst/>
            <a:ahLst/>
            <a:cxnLst/>
            <a:rect r="r" b="b" t="t" l="l"/>
            <a:pathLst>
              <a:path h="10287000" w="10675292">
                <a:moveTo>
                  <a:pt x="0" y="0"/>
                </a:moveTo>
                <a:lnTo>
                  <a:pt x="10675292" y="0"/>
                </a:lnTo>
                <a:lnTo>
                  <a:pt x="10675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7421" y="855127"/>
            <a:ext cx="6303957" cy="205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4"/>
              </a:lnSpc>
            </a:pPr>
            <a:r>
              <a:rPr lang="en-US" sz="7769" spc="-75" b="true">
                <a:solidFill>
                  <a:srgbClr val="081C3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Introduction to JSON and REST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995365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7417" y="3788539"/>
            <a:ext cx="5304417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0F4A9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</a:t>
            </a: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is JavaScript Object Notation,</a:t>
            </a:r>
          </a:p>
          <a:p>
            <a:pPr algn="l">
              <a:lnSpc>
                <a:spcPts val="3312"/>
              </a:lnSpc>
            </a:pP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 lightweight format to exchange 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124" y="4933163"/>
            <a:ext cx="6933742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0F4A9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REST</a:t>
            </a: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is Representational State Transfer, a way to design web services using HTTP.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457" y="6087312"/>
            <a:ext cx="6200359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28" b="true">
                <a:solidFill>
                  <a:srgbClr val="0F4A9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</a:t>
            </a:r>
            <a:r>
              <a:rPr lang="en-US" sz="2896" spc="-28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is easy to read and widely supported.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325" y="6825293"/>
            <a:ext cx="5413589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28" b="true">
                <a:solidFill>
                  <a:srgbClr val="0F4A9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REST</a:t>
            </a:r>
            <a:r>
              <a:rPr lang="en-US" sz="2896" spc="-28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defines how web services work.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646" y="7538689"/>
            <a:ext cx="4681528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Together, </a:t>
            </a:r>
            <a:r>
              <a:rPr lang="en-US" sz="2759" spc="-26" b="true">
                <a:solidFill>
                  <a:srgbClr val="0F4A9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</a:t>
            </a: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and </a:t>
            </a:r>
            <a:r>
              <a:rPr lang="en-US" sz="2759" spc="-26" b="true">
                <a:solidFill>
                  <a:srgbClr val="0F4A9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REST</a:t>
            </a: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enable</a:t>
            </a:r>
          </a:p>
          <a:p>
            <a:pPr algn="l">
              <a:lnSpc>
                <a:spcPts val="3312"/>
              </a:lnSpc>
            </a:pPr>
            <a:r>
              <a:rPr lang="en-US" sz="2759" spc="-26">
                <a:solidFill>
                  <a:srgbClr val="3D3D4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fast and simple communication.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26842" y="2776725"/>
            <a:ext cx="2406316" cy="4733550"/>
          </a:xfrm>
          <a:custGeom>
            <a:avLst/>
            <a:gdLst/>
            <a:ahLst/>
            <a:cxnLst/>
            <a:rect r="r" b="b" t="t" l="l"/>
            <a:pathLst>
              <a:path h="4733550" w="2406316">
                <a:moveTo>
                  <a:pt x="0" y="0"/>
                </a:moveTo>
                <a:lnTo>
                  <a:pt x="2406316" y="0"/>
                </a:lnTo>
                <a:lnTo>
                  <a:pt x="2406316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28762" y="3722761"/>
            <a:ext cx="1723896" cy="92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b="true" sz="6206" spc="124">
                <a:solidFill>
                  <a:srgbClr val="F4F4F4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JSON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15382" y="4923480"/>
            <a:ext cx="1550655" cy="137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896" spc="57">
                <a:solidFill>
                  <a:srgbClr val="F4F4F4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Lightweight</a:t>
            </a:r>
          </a:p>
          <a:p>
            <a:pPr algn="ctr">
              <a:lnSpc>
                <a:spcPts val="3764"/>
              </a:lnSpc>
            </a:pPr>
            <a:r>
              <a:rPr lang="en-US" sz="2896" spc="57">
                <a:solidFill>
                  <a:srgbClr val="F4F4F4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Data</a:t>
            </a:r>
          </a:p>
          <a:p>
            <a:pPr algn="ctr">
              <a:lnSpc>
                <a:spcPts val="3764"/>
              </a:lnSpc>
            </a:pPr>
            <a:r>
              <a:rPr lang="en-US" sz="2896" spc="57">
                <a:solidFill>
                  <a:srgbClr val="F4F4F4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Format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47260" y="4767494"/>
            <a:ext cx="2172306" cy="134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032" spc="60">
                <a:solidFill>
                  <a:srgbClr val="081C3C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Fast and</a:t>
            </a:r>
          </a:p>
          <a:p>
            <a:pPr algn="ctr">
              <a:lnSpc>
                <a:spcPts val="3639"/>
              </a:lnSpc>
            </a:pPr>
            <a:r>
              <a:rPr lang="en-US" sz="3032" spc="60">
                <a:solidFill>
                  <a:srgbClr val="081C3C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Easy</a:t>
            </a:r>
          </a:p>
          <a:p>
            <a:pPr algn="ctr">
              <a:lnSpc>
                <a:spcPts val="3639"/>
              </a:lnSpc>
            </a:pPr>
            <a:r>
              <a:rPr lang="en-US" sz="3032" spc="60">
                <a:solidFill>
                  <a:srgbClr val="081C3C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Communication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622220" y="3848060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622220" y="6209369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98842" y="2776725"/>
            <a:ext cx="2625072" cy="4733550"/>
          </a:xfrm>
          <a:custGeom>
            <a:avLst/>
            <a:gdLst/>
            <a:ahLst/>
            <a:cxnLst/>
            <a:rect r="r" b="b" t="t" l="l"/>
            <a:pathLst>
              <a:path h="4733550" w="2625072">
                <a:moveTo>
                  <a:pt x="0" y="0"/>
                </a:moveTo>
                <a:lnTo>
                  <a:pt x="2625072" y="0"/>
                </a:lnTo>
                <a:lnTo>
                  <a:pt x="2625072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312633" y="3722761"/>
            <a:ext cx="1638409" cy="92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b="true" sz="6206" spc="124">
                <a:solidFill>
                  <a:srgbClr val="F4F4F4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REST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21757" y="4923480"/>
            <a:ext cx="1820162" cy="137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896" spc="57">
                <a:solidFill>
                  <a:srgbClr val="F4F4F4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Web Services</a:t>
            </a:r>
          </a:p>
          <a:p>
            <a:pPr algn="ctr">
              <a:lnSpc>
                <a:spcPts val="3764"/>
              </a:lnSpc>
            </a:pPr>
            <a:r>
              <a:rPr lang="en-US" sz="2896" spc="57">
                <a:solidFill>
                  <a:srgbClr val="F4F4F4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Using</a:t>
            </a:r>
          </a:p>
          <a:p>
            <a:pPr algn="ctr">
              <a:lnSpc>
                <a:spcPts val="3764"/>
              </a:lnSpc>
            </a:pPr>
            <a:r>
              <a:rPr lang="en-US" sz="2896" spc="57">
                <a:solidFill>
                  <a:srgbClr val="F4F4F4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HTTP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122" y="877224"/>
            <a:ext cx="5154949" cy="223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sz="8046" spc="-239" b="true">
                <a:solidFill>
                  <a:srgbClr val="082650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Client-Server 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214004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4733" y="4010144"/>
            <a:ext cx="5893853" cy="128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42424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 client sends requests, the REST API forwards them to the server, and data is stored and retrieved securely.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175196" y="2569017"/>
            <a:ext cx="2187560" cy="3651284"/>
          </a:xfrm>
          <a:custGeom>
            <a:avLst/>
            <a:gdLst/>
            <a:ahLst/>
            <a:cxnLst/>
            <a:rect r="r" b="b" t="t" l="l"/>
            <a:pathLst>
              <a:path h="3651284" w="218756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98341" y="3265399"/>
            <a:ext cx="1016441" cy="50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b="true" sz="3478" spc="-69">
                <a:solidFill>
                  <a:srgbClr val="FFFFFF">
                    <a:alpha val="80000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Client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13102" y="4093746"/>
            <a:ext cx="1386918" cy="148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User or application requesting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3848060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08086" y="2569017"/>
            <a:ext cx="2187560" cy="3651284"/>
          </a:xfrm>
          <a:custGeom>
            <a:avLst/>
            <a:gdLst/>
            <a:ahLst/>
            <a:cxnLst/>
            <a:rect r="r" b="b" t="t" l="l"/>
            <a:pathLst>
              <a:path h="3651284" w="218756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02319" y="3255874"/>
            <a:ext cx="1655084" cy="51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9"/>
              </a:lnSpc>
            </a:pPr>
            <a:r>
              <a:rPr lang="en-US" b="true" sz="3440" spc="-68">
                <a:solidFill>
                  <a:srgbClr val="FFFFFF">
                    <a:alpha val="80000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REST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1435" y="4093746"/>
            <a:ext cx="1118098" cy="148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Interface handling HTTP</a:t>
            </a:r>
          </a:p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requests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65952" y="3848060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40976" y="2569017"/>
            <a:ext cx="2187560" cy="3651284"/>
          </a:xfrm>
          <a:custGeom>
            <a:avLst/>
            <a:gdLst/>
            <a:ahLst/>
            <a:cxnLst/>
            <a:rect r="r" b="b" t="t" l="l"/>
            <a:pathLst>
              <a:path h="3651284" w="218756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292238" y="3265399"/>
            <a:ext cx="1133630" cy="50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b="true" sz="3478" spc="-69">
                <a:solidFill>
                  <a:srgbClr val="FFFFFF">
                    <a:alpha val="80000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Server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44171" y="4093746"/>
            <a:ext cx="1629765" cy="148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Processes requests and manages</a:t>
            </a:r>
          </a:p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data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798842" y="3848060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73866" y="2569017"/>
            <a:ext cx="2187560" cy="3651284"/>
          </a:xfrm>
          <a:custGeom>
            <a:avLst/>
            <a:gdLst/>
            <a:ahLst/>
            <a:cxnLst/>
            <a:rect r="r" b="b" t="t" l="l"/>
            <a:pathLst>
              <a:path h="3651284" w="218756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067634" y="3105266"/>
            <a:ext cx="1315699" cy="99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b="true" sz="3366" spc="-67">
                <a:solidFill>
                  <a:srgbClr val="FFFFFF">
                    <a:alpha val="80000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Data Storage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33722" y="4475802"/>
            <a:ext cx="1583523" cy="11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spc="-53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Database or storage system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831464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50220" y="5990729"/>
            <a:ext cx="8717426" cy="1300906"/>
          </a:xfrm>
          <a:custGeom>
            <a:avLst/>
            <a:gdLst/>
            <a:ahLst/>
            <a:cxnLst/>
            <a:rect r="r" b="b" t="t" l="l"/>
            <a:pathLst>
              <a:path h="1300906" w="8717426">
                <a:moveTo>
                  <a:pt x="0" y="0"/>
                </a:moveTo>
                <a:lnTo>
                  <a:pt x="8717426" y="0"/>
                </a:lnTo>
                <a:lnTo>
                  <a:pt x="8717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483299" y="6509016"/>
            <a:ext cx="1723131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443" spc="-48">
                <a:solidFill>
                  <a:srgbClr val="082650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HTTP Request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69767" y="7412666"/>
            <a:ext cx="1925606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443" spc="-48">
                <a:solidFill>
                  <a:srgbClr val="082650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HTTP Response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5489" y="826825"/>
            <a:ext cx="10176100" cy="2035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5"/>
              </a:lnSpc>
            </a:pPr>
            <a:r>
              <a:rPr lang="en-US" sz="7442" spc="-148" b="true">
                <a:solidFill>
                  <a:srgbClr val="08244D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Working of JSON-Based RESTful Services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848060"/>
            <a:ext cx="2625072" cy="3224936"/>
          </a:xfrm>
          <a:custGeom>
            <a:avLst/>
            <a:gdLst/>
            <a:ahLst/>
            <a:cxnLst/>
            <a:rect r="r" b="b" t="t" l="l"/>
            <a:pathLst>
              <a:path h="3224936" w="2625072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140" y="5175477"/>
            <a:ext cx="1505208" cy="56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b="true" sz="3537" spc="-70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CLIENT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040708" y="4285339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3244" y="3848060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87952" y="4061174"/>
            <a:ext cx="279410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b="true" sz="3893" spc="-77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72472" y="5104362"/>
            <a:ext cx="1903405" cy="155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2487" spc="-49">
                <a:solidFill>
                  <a:srgbClr val="08244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Client sends HTTP request (GET, POST,</a:t>
            </a:r>
          </a:p>
          <a:p>
            <a:pPr algn="ctr">
              <a:lnSpc>
                <a:spcPts val="3232"/>
              </a:lnSpc>
            </a:pPr>
            <a:r>
              <a:rPr lang="en-US" sz="2487" spc="-49">
                <a:solidFill>
                  <a:srgbClr val="08244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etc.)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36086" y="4066699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56440" y="3848060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35811" y="5104362"/>
            <a:ext cx="2080962" cy="116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2487" spc="-49">
                <a:solidFill>
                  <a:srgbClr val="08244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Server receives and processes the request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50220" y="4066699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89330" y="3848060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072553" y="4061174"/>
            <a:ext cx="279410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b="true" sz="3893" spc="-77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13399" y="5130999"/>
            <a:ext cx="2169859" cy="116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2487" spc="-49">
                <a:solidFill>
                  <a:srgbClr val="08244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Server retrieves or updates data accordingly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883110" y="4066699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403464" y="3848060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912194" y="4061174"/>
            <a:ext cx="279410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b="true" sz="3893" spc="-77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66870" y="5104362"/>
            <a:ext cx="2142197" cy="155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2487" spc="-49">
                <a:solidFill>
                  <a:srgbClr val="08244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Server returns HTTP status code and</a:t>
            </a:r>
          </a:p>
          <a:p>
            <a:pPr algn="ctr">
              <a:lnSpc>
                <a:spcPts val="3232"/>
              </a:lnSpc>
            </a:pPr>
            <a:r>
              <a:rPr lang="en-US" sz="2487" spc="-49">
                <a:solidFill>
                  <a:srgbClr val="08244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JSON response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716000" y="4066699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98842" y="3848060"/>
            <a:ext cx="2625072" cy="3224936"/>
          </a:xfrm>
          <a:custGeom>
            <a:avLst/>
            <a:gdLst/>
            <a:ahLst/>
            <a:cxnLst/>
            <a:rect r="r" b="b" t="t" l="l"/>
            <a:pathLst>
              <a:path h="3224936" w="2625072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253052" y="5175477"/>
            <a:ext cx="1641842" cy="56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b="true" sz="3537" spc="-70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SERVER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39110" y="706206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957866" y="6854356"/>
            <a:ext cx="5665780" cy="1082267"/>
          </a:xfrm>
          <a:custGeom>
            <a:avLst/>
            <a:gdLst/>
            <a:ahLst/>
            <a:cxnLst/>
            <a:rect r="r" b="b" t="t" l="l"/>
            <a:pathLst>
              <a:path h="1082267" w="5665780">
                <a:moveTo>
                  <a:pt x="0" y="0"/>
                </a:moveTo>
                <a:lnTo>
                  <a:pt x="5665780" y="0"/>
                </a:lnTo>
                <a:lnTo>
                  <a:pt x="5665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93952" y="7280704"/>
            <a:ext cx="3500096" cy="1082267"/>
          </a:xfrm>
          <a:custGeom>
            <a:avLst/>
            <a:gdLst/>
            <a:ahLst/>
            <a:cxnLst/>
            <a:rect r="r" b="b" t="t" l="l"/>
            <a:pathLst>
              <a:path h="1082267" w="3500096">
                <a:moveTo>
                  <a:pt x="0" y="0"/>
                </a:moveTo>
                <a:lnTo>
                  <a:pt x="3500096" y="0"/>
                </a:lnTo>
                <a:lnTo>
                  <a:pt x="350009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717859" y="7564502"/>
            <a:ext cx="2660830" cy="42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b="true" sz="2654" spc="-53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 RESPONSE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664354" y="6854356"/>
            <a:ext cx="5447024" cy="1082267"/>
          </a:xfrm>
          <a:custGeom>
            <a:avLst/>
            <a:gdLst/>
            <a:ahLst/>
            <a:cxnLst/>
            <a:rect r="r" b="b" t="t" l="l"/>
            <a:pathLst>
              <a:path h="1082267" w="5447024">
                <a:moveTo>
                  <a:pt x="0" y="0"/>
                </a:moveTo>
                <a:lnTo>
                  <a:pt x="5447024" y="0"/>
                </a:lnTo>
                <a:lnTo>
                  <a:pt x="5447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366858" y="4061174"/>
            <a:ext cx="279410" cy="61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b="true" sz="3893" spc="-77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3306" y="838630"/>
            <a:ext cx="6678776" cy="103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spc="-156" b="true">
                <a:solidFill>
                  <a:srgbClr val="082244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HTTP Methods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4364182" cy="6231233"/>
          </a:xfrm>
          <a:custGeom>
            <a:avLst/>
            <a:gdLst/>
            <a:ahLst/>
            <a:cxnLst/>
            <a:rect r="r" b="b" t="t" l="l"/>
            <a:pathLst>
              <a:path h="6231233" w="4364182">
                <a:moveTo>
                  <a:pt x="0" y="0"/>
                </a:moveTo>
                <a:lnTo>
                  <a:pt x="4364182" y="0"/>
                </a:lnTo>
                <a:lnTo>
                  <a:pt x="4364182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79818" y="2350377"/>
            <a:ext cx="6759560" cy="6231233"/>
          </a:xfrm>
          <a:custGeom>
            <a:avLst/>
            <a:gdLst/>
            <a:ahLst/>
            <a:cxnLst/>
            <a:rect r="r" b="b" t="t" l="l"/>
            <a:pathLst>
              <a:path h="6231233" w="6759560">
                <a:moveTo>
                  <a:pt x="0" y="0"/>
                </a:moveTo>
                <a:lnTo>
                  <a:pt x="6759560" y="0"/>
                </a:lnTo>
                <a:lnTo>
                  <a:pt x="6759560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28440" y="2350377"/>
            <a:ext cx="5020450" cy="6231233"/>
          </a:xfrm>
          <a:custGeom>
            <a:avLst/>
            <a:gdLst/>
            <a:ahLst/>
            <a:cxnLst/>
            <a:rect r="r" b="b" t="t" l="l"/>
            <a:pathLst>
              <a:path h="6231233" w="5020450">
                <a:moveTo>
                  <a:pt x="0" y="0"/>
                </a:moveTo>
                <a:lnTo>
                  <a:pt x="5020450" y="0"/>
                </a:lnTo>
                <a:lnTo>
                  <a:pt x="5020450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95417" y="2739864"/>
            <a:ext cx="1192656" cy="75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2"/>
              </a:lnSpc>
            </a:pPr>
            <a:r>
              <a:rPr lang="en-US" b="true" sz="5682" spc="-113">
                <a:solidFill>
                  <a:srgbClr val="F6F6F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GET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0698" y="3953782"/>
            <a:ext cx="1664562" cy="74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b="true" sz="5719" spc="-114">
                <a:solidFill>
                  <a:srgbClr val="F6F6F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POST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4924" y="5163837"/>
            <a:ext cx="1241976" cy="7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b="true" sz="5794" spc="-115">
                <a:solidFill>
                  <a:srgbClr val="F6F6F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972" y="6383765"/>
            <a:ext cx="2137216" cy="7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b="true" sz="5794" spc="-115">
                <a:solidFill>
                  <a:srgbClr val="F6F6F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PATCH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4858" y="7629450"/>
            <a:ext cx="2248558" cy="73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7"/>
              </a:lnSpc>
            </a:pPr>
            <a:r>
              <a:rPr lang="en-US" b="true" sz="5607" spc="-112">
                <a:solidFill>
                  <a:srgbClr val="F6F6F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DELETE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70604" y="2922001"/>
            <a:ext cx="4078614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49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Retrieve data from the server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9905" y="4141929"/>
            <a:ext cx="3148568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49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Create a new resource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63636" y="5346796"/>
            <a:ext cx="4775431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49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Replace or update a resource fully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73835" y="6566724"/>
            <a:ext cx="3755576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49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Partially update a resource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4246" y="7786652"/>
            <a:ext cx="2714442" cy="30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49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Remove a resource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51570" y="3108211"/>
            <a:ext cx="2314093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Get a list of users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62411" y="3951618"/>
            <a:ext cx="122999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104B9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Example: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54268" y="4313078"/>
            <a:ext cx="2044249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Add a new user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62411" y="5171546"/>
            <a:ext cx="122999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104B9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Example: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33711" y="5533006"/>
            <a:ext cx="4099980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Update user details completely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62411" y="6391474"/>
            <a:ext cx="122999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104B9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Example: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39917" y="6752934"/>
            <a:ext cx="347938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Update a user’s email only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62411" y="7611402"/>
            <a:ext cx="122999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104B9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Example: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5957" y="7972862"/>
            <a:ext cx="2875429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324362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Delete a user account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2411" y="2761811"/>
            <a:ext cx="1229998" cy="2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104B9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Example: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8872" y="1048734"/>
            <a:ext cx="7801123" cy="9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spc="-151" b="true">
                <a:solidFill>
                  <a:srgbClr val="0B2143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JSON Data Format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350377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1235" y="3125862"/>
            <a:ext cx="5922637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stores data as </a:t>
            </a: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key-value pairs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inside braces {}.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885" y="4300608"/>
            <a:ext cx="5257550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Keys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like "id" and </a:t>
            </a: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values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like 101</a:t>
            </a:r>
          </a:p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make up the 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5418" y="5460293"/>
            <a:ext cx="6504298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Strings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like "Laptop" are text;</a:t>
            </a:r>
          </a:p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numbers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like 25 and 50000 are numeric.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754" y="6559734"/>
            <a:ext cx="6370711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Multiple objects can be stored in </a:t>
            </a: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arrays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(list of objects).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3366" y="7704358"/>
            <a:ext cx="4709507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JSON is used in both </a:t>
            </a: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request</a:t>
            </a:r>
          </a:p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and </a:t>
            </a:r>
            <a:r>
              <a:rPr lang="en-US" sz="2759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response</a:t>
            </a:r>
            <a:r>
              <a:rPr lang="en-US" sz="275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bodies.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93017" y="2192574"/>
            <a:ext cx="2609202" cy="40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 b="true">
                <a:solidFill>
                  <a:srgbClr val="0F4CA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Example JSON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89330" y="2776725"/>
            <a:ext cx="6978316" cy="5367606"/>
          </a:xfrm>
          <a:custGeom>
            <a:avLst/>
            <a:gdLst/>
            <a:ahLst/>
            <a:cxnLst/>
            <a:rect r="r" b="b" t="t" l="l"/>
            <a:pathLst>
              <a:path h="5367606" w="6978316">
                <a:moveTo>
                  <a:pt x="0" y="0"/>
                </a:moveTo>
                <a:lnTo>
                  <a:pt x="6978316" y="0"/>
                </a:lnTo>
                <a:lnTo>
                  <a:pt x="697831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79874" y="4054099"/>
            <a:ext cx="2511005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100" b="true">
                <a:solidFill>
                  <a:srgbClr val="56C8AC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"id"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: </a:t>
            </a:r>
            <a:r>
              <a:rPr lang="en-US" sz="3366" spc="-100" b="true">
                <a:solidFill>
                  <a:srgbClr val="D6764A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101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62297" y="4792080"/>
            <a:ext cx="4268708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100" b="true">
                <a:solidFill>
                  <a:srgbClr val="56C8AC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"name"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: </a:t>
            </a:r>
            <a:r>
              <a:rPr lang="en-US" sz="3366" spc="-100" b="true">
                <a:solidFill>
                  <a:srgbClr val="E1C86B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"Laptop"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67319" y="5545122"/>
            <a:ext cx="3766507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100" b="true">
                <a:solidFill>
                  <a:srgbClr val="56C8AC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"quantity"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: </a:t>
            </a:r>
            <a:r>
              <a:rPr lang="en-US" sz="3366" spc="-100" b="true">
                <a:solidFill>
                  <a:srgbClr val="D6764A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25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69830" y="6283103"/>
            <a:ext cx="3515407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100" b="true">
                <a:solidFill>
                  <a:srgbClr val="56C8AC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"price"</a:t>
            </a: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: </a:t>
            </a:r>
            <a:r>
              <a:rPr lang="en-US" sz="3366" spc="-100" b="true">
                <a:solidFill>
                  <a:srgbClr val="D6764A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50000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25591" y="3285996"/>
            <a:ext cx="25110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{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5591" y="7006024"/>
            <a:ext cx="25110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100" b="true">
                <a:solidFill>
                  <a:srgbClr val="FFFFFF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767" y="670250"/>
            <a:ext cx="7211534" cy="215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7"/>
              </a:lnSpc>
            </a:pPr>
            <a:r>
              <a:rPr lang="en-US" sz="8659" spc="-173" b="true">
                <a:solidFill>
                  <a:srgbClr val="08244D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Practical REST API Example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6666" y="3097998"/>
            <a:ext cx="8021656" cy="43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Example endpoints for an inventory management system.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1750048" cy="874559"/>
          </a:xfrm>
          <a:custGeom>
            <a:avLst/>
            <a:gdLst/>
            <a:ahLst/>
            <a:cxnLst/>
            <a:rect r="r" b="b" t="t" l="l"/>
            <a:pathLst>
              <a:path h="874559" w="1750048">
                <a:moveTo>
                  <a:pt x="0" y="0"/>
                </a:moveTo>
                <a:lnTo>
                  <a:pt x="1750048" y="0"/>
                </a:lnTo>
                <a:lnTo>
                  <a:pt x="175004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8675" y="4017518"/>
            <a:ext cx="612859" cy="4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b="true" sz="2623" spc="-52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GET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6622" y="3848060"/>
            <a:ext cx="8061158" cy="874559"/>
          </a:xfrm>
          <a:custGeom>
            <a:avLst/>
            <a:gdLst/>
            <a:ahLst/>
            <a:cxnLst/>
            <a:rect r="r" b="b" t="t" l="l"/>
            <a:pathLst>
              <a:path h="874559" w="8061158">
                <a:moveTo>
                  <a:pt x="0" y="0"/>
                </a:moveTo>
                <a:lnTo>
                  <a:pt x="8061158" y="0"/>
                </a:lnTo>
                <a:lnTo>
                  <a:pt x="806115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99023" y="4016709"/>
            <a:ext cx="1914849" cy="43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0F4A9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/api/products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9375" y="4030271"/>
            <a:ext cx="3080742" cy="3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get all products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4711687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8675" y="4936229"/>
            <a:ext cx="612859" cy="4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b="true" sz="2623" spc="-52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GET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176622" y="4711687"/>
            <a:ext cx="8061158" cy="1082267"/>
          </a:xfrm>
          <a:custGeom>
            <a:avLst/>
            <a:gdLst/>
            <a:ahLst/>
            <a:cxnLst/>
            <a:rect r="r" b="b" t="t" l="l"/>
            <a:pathLst>
              <a:path h="1082267" w="8061158">
                <a:moveTo>
                  <a:pt x="0" y="0"/>
                </a:moveTo>
                <a:lnTo>
                  <a:pt x="8061158" y="0"/>
                </a:lnTo>
                <a:lnTo>
                  <a:pt x="8061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29375" y="4948983"/>
            <a:ext cx="3080742" cy="3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get product with id 101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5564382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76622" y="5564382"/>
            <a:ext cx="8061158" cy="1082267"/>
          </a:xfrm>
          <a:custGeom>
            <a:avLst/>
            <a:gdLst/>
            <a:ahLst/>
            <a:cxnLst/>
            <a:rect r="r" b="b" t="t" l="l"/>
            <a:pathLst>
              <a:path h="1082267" w="8061158">
                <a:moveTo>
                  <a:pt x="0" y="0"/>
                </a:moveTo>
                <a:lnTo>
                  <a:pt x="8061158" y="0"/>
                </a:lnTo>
                <a:lnTo>
                  <a:pt x="8061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330" y="6428009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8547" y="6773652"/>
            <a:ext cx="633117" cy="4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b="true" sz="2623" spc="-52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PUT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176622" y="6428009"/>
            <a:ext cx="8061158" cy="1082267"/>
          </a:xfrm>
          <a:custGeom>
            <a:avLst/>
            <a:gdLst/>
            <a:ahLst/>
            <a:cxnLst/>
            <a:rect r="r" b="b" t="t" l="l"/>
            <a:pathLst>
              <a:path h="1082267" w="8061158">
                <a:moveTo>
                  <a:pt x="0" y="0"/>
                </a:moveTo>
                <a:lnTo>
                  <a:pt x="8061158" y="0"/>
                </a:lnTo>
                <a:lnTo>
                  <a:pt x="8061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492419" y="6772843"/>
            <a:ext cx="2575331" cy="43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0F4A9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/api/products/101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29375" y="6786405"/>
            <a:ext cx="3080742" cy="3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update product 101 fully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45330" y="7499343"/>
            <a:ext cx="1750048" cy="863627"/>
          </a:xfrm>
          <a:custGeom>
            <a:avLst/>
            <a:gdLst/>
            <a:ahLst/>
            <a:cxnLst/>
            <a:rect r="r" b="b" t="t" l="l"/>
            <a:pathLst>
              <a:path h="863627" w="1750048">
                <a:moveTo>
                  <a:pt x="0" y="0"/>
                </a:moveTo>
                <a:lnTo>
                  <a:pt x="1750048" y="0"/>
                </a:lnTo>
                <a:lnTo>
                  <a:pt x="1750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2921" y="7707424"/>
            <a:ext cx="1148508" cy="4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b="true" sz="2623" spc="-52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DELETE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176622" y="7499343"/>
            <a:ext cx="8061158" cy="863627"/>
          </a:xfrm>
          <a:custGeom>
            <a:avLst/>
            <a:gdLst/>
            <a:ahLst/>
            <a:cxnLst/>
            <a:rect r="r" b="b" t="t" l="l"/>
            <a:pathLst>
              <a:path h="863627" w="8061158">
                <a:moveTo>
                  <a:pt x="0" y="0"/>
                </a:moveTo>
                <a:lnTo>
                  <a:pt x="8061158" y="0"/>
                </a:lnTo>
                <a:lnTo>
                  <a:pt x="806115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92419" y="7706615"/>
            <a:ext cx="2575331" cy="43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0F4A9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/api/products/101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9375" y="7720177"/>
            <a:ext cx="3080742" cy="3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delete product 101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03904" y="2646982"/>
            <a:ext cx="4750263" cy="4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spc="-52" b="true">
                <a:solidFill>
                  <a:srgbClr val="0F4A9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Sample: Get Product with ID 101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883110" y="3214004"/>
            <a:ext cx="6978316" cy="1934962"/>
          </a:xfrm>
          <a:custGeom>
            <a:avLst/>
            <a:gdLst/>
            <a:ahLst/>
            <a:cxnLst/>
            <a:rect r="r" b="b" t="t" l="l"/>
            <a:pathLst>
              <a:path h="1934962" w="6978316">
                <a:moveTo>
                  <a:pt x="0" y="0"/>
                </a:moveTo>
                <a:lnTo>
                  <a:pt x="6978316" y="0"/>
                </a:lnTo>
                <a:lnTo>
                  <a:pt x="697831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314196" y="3950763"/>
            <a:ext cx="4436649" cy="6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GET /api/products/101 HTTP/1.1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Host: api.example.com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883110" y="4919394"/>
            <a:ext cx="6978316" cy="4088563"/>
          </a:xfrm>
          <a:custGeom>
            <a:avLst/>
            <a:gdLst/>
            <a:ahLst/>
            <a:cxnLst/>
            <a:rect r="r" b="b" t="t" l="l"/>
            <a:pathLst>
              <a:path h="4088563" w="6978316">
                <a:moveTo>
                  <a:pt x="0" y="0"/>
                </a:moveTo>
                <a:lnTo>
                  <a:pt x="6978316" y="0"/>
                </a:lnTo>
                <a:lnTo>
                  <a:pt x="697831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229115" y="5186477"/>
            <a:ext cx="2229089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40" b="true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Response (200 OK)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45422" y="5818307"/>
            <a:ext cx="3992984" cy="248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{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"id": </a:t>
            </a:r>
            <a:r>
              <a:rPr lang="en-US" sz="1916" spc="-38">
                <a:solidFill>
                  <a:srgbClr val="2E5DA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101</a:t>
            </a: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,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"name": </a:t>
            </a:r>
            <a:r>
              <a:rPr lang="en-US" sz="1916" spc="-38">
                <a:solidFill>
                  <a:srgbClr val="2E5DA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"Wireless Mouse</a:t>
            </a: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",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"category": </a:t>
            </a:r>
            <a:r>
              <a:rPr lang="en-US" sz="1916" spc="-38">
                <a:solidFill>
                  <a:srgbClr val="2E5DA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"Electronics</a:t>
            </a: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",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"price": </a:t>
            </a:r>
            <a:r>
              <a:rPr lang="en-US" sz="1916" spc="-38">
                <a:solidFill>
                  <a:srgbClr val="2E5DA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25.99</a:t>
            </a: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,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"stock": </a:t>
            </a:r>
            <a:r>
              <a:rPr lang="en-US" sz="1916" spc="-38">
                <a:solidFill>
                  <a:srgbClr val="2E5DA4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150</a:t>
            </a:r>
          </a:p>
          <a:p>
            <a:pPr algn="l">
              <a:lnSpc>
                <a:spcPts val="2874"/>
              </a:lnSpc>
            </a:pPr>
            <a:r>
              <a:rPr lang="en-US" sz="1916" spc="-38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92419" y="4935420"/>
            <a:ext cx="2575331" cy="43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0F4A9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/api/products/101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29375" y="5867694"/>
            <a:ext cx="3080742" cy="3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>
                <a:solidFill>
                  <a:srgbClr val="3D3D3D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add a new product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99023" y="5854132"/>
            <a:ext cx="1914849" cy="43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0F4A9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/api/products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1948" y="5854941"/>
            <a:ext cx="846314" cy="4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b="true" sz="2623" spc="-52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POST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41907" y="3303872"/>
            <a:ext cx="949920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40" b="true">
                <a:solidFill>
                  <a:srgbClr val="FFFF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Request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8527" y="756385"/>
            <a:ext cx="5514501" cy="205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1"/>
              </a:lnSpc>
            </a:pPr>
            <a:r>
              <a:rPr lang="en-US" sz="8240" spc="-329" b="true">
                <a:solidFill>
                  <a:srgbClr val="072449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Real-World Applications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5435" y="3412018"/>
            <a:ext cx="5823698" cy="83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07244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JSON</a:t>
            </a:r>
            <a:r>
              <a:rPr lang="en-US" sz="2759" spc="-2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-based </a:t>
            </a:r>
            <a:r>
              <a:rPr lang="en-US" sz="2759" spc="-26" b="true">
                <a:solidFill>
                  <a:srgbClr val="0F4791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REST</a:t>
            </a:r>
            <a:r>
              <a:rPr lang="en-US" sz="2759" spc="-2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ful services power many everyday digital experiences.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493047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471168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7866" y="4493047"/>
            <a:ext cx="7404890" cy="1082267"/>
          </a:xfrm>
          <a:custGeom>
            <a:avLst/>
            <a:gdLst/>
            <a:ahLst/>
            <a:cxnLst/>
            <a:rect r="r" b="b" t="t" l="l"/>
            <a:pathLst>
              <a:path h="1082267" w="7404890">
                <a:moveTo>
                  <a:pt x="0" y="0"/>
                </a:moveTo>
                <a:lnTo>
                  <a:pt x="7404890" y="0"/>
                </a:lnTo>
                <a:lnTo>
                  <a:pt x="740489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330" y="5356674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5564382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7866" y="5356674"/>
            <a:ext cx="7404890" cy="1082267"/>
          </a:xfrm>
          <a:custGeom>
            <a:avLst/>
            <a:gdLst/>
            <a:ahLst/>
            <a:cxnLst/>
            <a:rect r="r" b="b" t="t" l="l"/>
            <a:pathLst>
              <a:path h="1082267" w="7404890">
                <a:moveTo>
                  <a:pt x="0" y="0"/>
                </a:moveTo>
                <a:lnTo>
                  <a:pt x="7404890" y="0"/>
                </a:lnTo>
                <a:lnTo>
                  <a:pt x="740489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37855" y="5705255"/>
            <a:ext cx="4637134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Banking: account info, transactions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6209369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2842" y="6428009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57866" y="6209369"/>
            <a:ext cx="7404890" cy="1082267"/>
          </a:xfrm>
          <a:custGeom>
            <a:avLst/>
            <a:gdLst/>
            <a:ahLst/>
            <a:cxnLst/>
            <a:rect r="r" b="b" t="t" l="l"/>
            <a:pathLst>
              <a:path h="1082267" w="7404890">
                <a:moveTo>
                  <a:pt x="0" y="0"/>
                </a:moveTo>
                <a:lnTo>
                  <a:pt x="7404890" y="0"/>
                </a:lnTo>
                <a:lnTo>
                  <a:pt x="740489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38211" y="6548663"/>
            <a:ext cx="4601556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Weather apps: forecasts and alerts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7062064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2842" y="728070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957866" y="7062064"/>
            <a:ext cx="7404890" cy="1082267"/>
          </a:xfrm>
          <a:custGeom>
            <a:avLst/>
            <a:gdLst/>
            <a:ahLst/>
            <a:cxnLst/>
            <a:rect r="r" b="b" t="t" l="l"/>
            <a:pathLst>
              <a:path h="1082267" w="7404890">
                <a:moveTo>
                  <a:pt x="0" y="0"/>
                </a:moveTo>
                <a:lnTo>
                  <a:pt x="7404890" y="0"/>
                </a:lnTo>
                <a:lnTo>
                  <a:pt x="740489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32705" y="7407130"/>
            <a:ext cx="5152143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Mobile apps: syncing data and updates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5330" y="7925691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2842" y="813339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957866" y="7925691"/>
            <a:ext cx="7404890" cy="1082267"/>
          </a:xfrm>
          <a:custGeom>
            <a:avLst/>
            <a:gdLst/>
            <a:ahLst/>
            <a:cxnLst/>
            <a:rect r="r" b="b" t="t" l="l"/>
            <a:pathLst>
              <a:path h="1082267" w="7404890">
                <a:moveTo>
                  <a:pt x="0" y="0"/>
                </a:moveTo>
                <a:lnTo>
                  <a:pt x="7404890" y="0"/>
                </a:lnTo>
                <a:lnTo>
                  <a:pt x="740489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328095" y="8250538"/>
            <a:ext cx="5613188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Cloud services and inventory management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320622" y="207708"/>
            <a:ext cx="6967378" cy="9007957"/>
          </a:xfrm>
          <a:custGeom>
            <a:avLst/>
            <a:gdLst/>
            <a:ahLst/>
            <a:cxnLst/>
            <a:rect r="r" b="b" t="t" l="l"/>
            <a:pathLst>
              <a:path h="9007957" w="6967378">
                <a:moveTo>
                  <a:pt x="0" y="0"/>
                </a:moveTo>
                <a:lnTo>
                  <a:pt x="6967378" y="0"/>
                </a:lnTo>
                <a:lnTo>
                  <a:pt x="6967378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51818" y="6635716"/>
            <a:ext cx="6551742" cy="3224936"/>
          </a:xfrm>
          <a:custGeom>
            <a:avLst/>
            <a:gdLst/>
            <a:ahLst/>
            <a:cxnLst/>
            <a:rect r="r" b="b" t="t" l="l"/>
            <a:pathLst>
              <a:path h="3224936" w="6551742">
                <a:moveTo>
                  <a:pt x="0" y="0"/>
                </a:moveTo>
                <a:lnTo>
                  <a:pt x="6551742" y="0"/>
                </a:lnTo>
                <a:lnTo>
                  <a:pt x="655174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328628" y="4861848"/>
            <a:ext cx="5559819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E-commerce apps: product listings, orders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9330" y="0"/>
            <a:ext cx="8498670" cy="10287000"/>
          </a:xfrm>
          <a:custGeom>
            <a:avLst/>
            <a:gdLst/>
            <a:ahLst/>
            <a:cxnLst/>
            <a:rect r="r" b="b" t="t" l="l"/>
            <a:pathLst>
              <a:path h="10287000" w="8498670">
                <a:moveTo>
                  <a:pt x="0" y="0"/>
                </a:moveTo>
                <a:lnTo>
                  <a:pt x="8498670" y="0"/>
                </a:lnTo>
                <a:lnTo>
                  <a:pt x="8498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6658" y="870189"/>
            <a:ext cx="7022522" cy="205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4"/>
              </a:lnSpc>
            </a:pPr>
            <a:r>
              <a:rPr lang="en-US" sz="7769" spc="-155" b="true">
                <a:solidFill>
                  <a:srgbClr val="08244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Advantages and Limitations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640352"/>
            <a:ext cx="4145426" cy="863627"/>
          </a:xfrm>
          <a:custGeom>
            <a:avLst/>
            <a:gdLst/>
            <a:ahLst/>
            <a:cxnLst/>
            <a:rect r="r" b="b" t="t" l="l"/>
            <a:pathLst>
              <a:path h="863627" w="4145426">
                <a:moveTo>
                  <a:pt x="0" y="0"/>
                </a:moveTo>
                <a:lnTo>
                  <a:pt x="4145426" y="0"/>
                </a:lnTo>
                <a:lnTo>
                  <a:pt x="414542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7250" y="4954240"/>
            <a:ext cx="3696891" cy="3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-46">
                <a:solidFill>
                  <a:srgbClr val="313C5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Lightweight and easy to read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564382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50" y="5868626"/>
            <a:ext cx="3696891" cy="70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Works with many programming languages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6635716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7250" y="6998189"/>
            <a:ext cx="3696891" cy="70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Easy to integrate with</a:t>
            </a:r>
          </a:p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apps and websites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7707051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7250" y="8127752"/>
            <a:ext cx="3696891" cy="70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Good for web and</a:t>
            </a:r>
          </a:p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mobile applications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998574" y="3640352"/>
            <a:ext cx="229694" cy="5148966"/>
          </a:xfrm>
          <a:custGeom>
            <a:avLst/>
            <a:gdLst/>
            <a:ahLst/>
            <a:cxnLst/>
            <a:rect r="r" b="b" t="t" l="l"/>
            <a:pathLst>
              <a:path h="5148966" w="229694">
                <a:moveTo>
                  <a:pt x="0" y="0"/>
                </a:moveTo>
                <a:lnTo>
                  <a:pt x="229694" y="0"/>
                </a:lnTo>
                <a:lnTo>
                  <a:pt x="22969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36086" y="3640352"/>
            <a:ext cx="4145426" cy="863627"/>
          </a:xfrm>
          <a:custGeom>
            <a:avLst/>
            <a:gdLst/>
            <a:ahLst/>
            <a:cxnLst/>
            <a:rect r="r" b="b" t="t" l="l"/>
            <a:pathLst>
              <a:path h="863627" w="4145426">
                <a:moveTo>
                  <a:pt x="0" y="0"/>
                </a:moveTo>
                <a:lnTo>
                  <a:pt x="4145426" y="0"/>
                </a:lnTo>
                <a:lnTo>
                  <a:pt x="414542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813227" y="4799306"/>
            <a:ext cx="3696891" cy="70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Needs security (authentication, encryption)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436086" y="5564382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813227" y="6064417"/>
            <a:ext cx="3696891" cy="70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Depends on network connection for remote calls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436086" y="6854356"/>
            <a:ext cx="4145426" cy="218640"/>
          </a:xfrm>
          <a:custGeom>
            <a:avLst/>
            <a:gdLst/>
            <a:ahLst/>
            <a:cxnLst/>
            <a:rect r="r" b="b" t="t" l="l"/>
            <a:pathLst>
              <a:path h="218640" w="4145426">
                <a:moveTo>
                  <a:pt x="0" y="0"/>
                </a:moveTo>
                <a:lnTo>
                  <a:pt x="4145426" y="0"/>
                </a:lnTo>
                <a:lnTo>
                  <a:pt x="414542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813227" y="7329527"/>
            <a:ext cx="3696891" cy="70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JSON size can be bigger</a:t>
            </a:r>
          </a:p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313C50"/>
                </a:solidFill>
                <a:latin typeface="Helvetica Now Display Condensed"/>
                <a:ea typeface="Helvetica Now Display Condensed"/>
                <a:cs typeface="Helvetica Now Display Condensed"/>
                <a:sym typeface="Helvetica Now Display Condensed"/>
              </a:rPr>
              <a:t>than some binary formats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7250" y="3960224"/>
            <a:ext cx="3696891" cy="3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b="true" sz="2321" spc="22">
                <a:solidFill>
                  <a:srgbClr val="FFFFFF">
                    <a:alpha val="84706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ADVANTAGES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13227" y="3960224"/>
            <a:ext cx="3696891" cy="3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b="true" sz="2321" spc="22">
                <a:solidFill>
                  <a:srgbClr val="FFFFFF">
                    <a:alpha val="84706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LIMITATIONS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0828" y="1048506"/>
            <a:ext cx="5605456" cy="120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spc="-270" b="true">
                <a:solidFill>
                  <a:srgbClr val="082A4D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Conclusion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640352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5646" y="4325194"/>
            <a:ext cx="6123715" cy="85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JSON and REST work together using HTTP to enable APIs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0033" y="5484879"/>
            <a:ext cx="4684955" cy="85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They allow different apps to</a:t>
            </a:r>
          </a:p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communicate easily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0746" y="6674685"/>
            <a:ext cx="5613683" cy="85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JSON-based RESTful services</a:t>
            </a:r>
          </a:p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40404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power many modern applications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5244" y="1279043"/>
            <a:ext cx="8061158" cy="7083928"/>
          </a:xfrm>
          <a:custGeom>
            <a:avLst/>
            <a:gdLst/>
            <a:ahLst/>
            <a:cxnLst/>
            <a:rect r="r" b="b" t="t" l="l"/>
            <a:pathLst>
              <a:path h="7083928" w="8061158">
                <a:moveTo>
                  <a:pt x="0" y="0"/>
                </a:moveTo>
                <a:lnTo>
                  <a:pt x="8061158" y="0"/>
                </a:lnTo>
                <a:lnTo>
                  <a:pt x="8061158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17352" y="2404010"/>
            <a:ext cx="5533562" cy="124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spc="-278" b="true">
                <a:solidFill>
                  <a:srgbClr val="F8F8F8"/>
                </a:solidFill>
                <a:latin typeface="Helvetica Now Display Condensed Bold"/>
                <a:ea typeface="Helvetica Now Display Condensed Bold"/>
                <a:cs typeface="Helvetica Now Display Condensed Bold"/>
                <a:sym typeface="Helvetica Now Display Condensed Bold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008086" y="3848060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DAHXxh1VQxo</dc:identifier>
  <dcterms:modified xsi:type="dcterms:W3CDTF">2011-08-01T06:04:30Z</dcterms:modified>
  <cp:revision>1</cp:revision>
  <dc:title>JSON RESTful Services</dc:title>
</cp:coreProperties>
</file>